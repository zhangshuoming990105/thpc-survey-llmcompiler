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73"/>
    <p:restoredTop sz="94645"/>
  </p:normalViewPr>
  <p:slideViewPr>
    <p:cSldViewPr snapToGrid="0">
      <p:cViewPr>
        <p:scale>
          <a:sx n="128" d="100"/>
          <a:sy n="128" d="100"/>
        </p:scale>
        <p:origin x="5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99D63-2C5C-3F33-F8C2-6DC5A55C3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F5A857-C1E3-D50E-030E-333E58842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050822-35D7-EBD4-F4C0-CD39E818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D40B8-5042-9482-1FB0-80A59DC4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22859-DD64-A92D-FE24-8F5016CB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73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EE69F-EF0E-511A-3383-6BB19A7E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C6FE8-E56F-207A-BE5F-04A35C4E6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CF8616-BB4B-9D00-6F36-8C2A5F81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288A5-640C-7F84-E72A-25264EC0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EAAC7-5244-566A-CDCE-BCC6F3D3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41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75861-CEAD-3D33-6FC6-81C80F66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DBFFCE-7CED-C586-4958-27E319BDB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C0EDD-80F5-270A-2B26-BDECCFFF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73FEAF-164B-ACEE-DC88-4C7526D0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348F6F-3845-9249-0A19-B65C45B1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166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65F2C-4840-4A0B-9AFE-AA1182F7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D6785-2D88-63E3-7586-951630BCB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3C5F9F-87AC-52AB-6505-E7261BCE6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0251B-A634-ADFB-B543-CFF81F06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40CC26-9286-5FF3-C77A-E45449DC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674A81-9B18-9125-6C06-D528F299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75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E772C-0E75-01BA-1B27-47E1CF6E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677C65-98BE-87DC-2F74-01C0DCD32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C85DF4-93FC-6AD3-62EB-D35C68BF0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17816-BFAC-75F0-F1A0-448EACA3B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8EF5E8-AF74-89DC-C508-AA4281645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65EEF8-4748-16B1-3121-3EBC8490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49DF6E-B5D9-941F-99A5-11811486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9C9730-3435-5F38-E16A-35B49035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040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72BAC-E8A9-89F9-4266-08F986CE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AEE7E5-3379-5D6E-ECD7-F6953494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FFAFF8-39A7-2B68-5DDC-930B8353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6D5EC3-CE80-4678-1DF1-35219D73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137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63E214-BC3E-6A37-EF2D-2C80B04D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F79876-D3CE-6A06-FEE9-D76C50B1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B15F4F-F27D-769E-31F8-56EF7792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906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485F8-727E-5167-C3AD-62B5AB95B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130444-0FB1-AD29-8F21-17F86D5B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0D2B8-901F-AC5A-E8AB-0F2B998E3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DBDB4-8ED8-C1DC-93EF-FD865C40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8AE41A-77D6-1E17-7318-F546FE50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B54612-54FE-516E-5AC3-C249326A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97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C3897-E6D1-BF75-8BEC-8D36E8B1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24F2EC-F29E-1F45-D796-967735E9E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FE49FF-CA45-7071-28F2-BC32C5124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91B45A-DCCE-7A05-B3E6-826DA9C7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0C3A6E-EBE1-399F-8151-273216B6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313475-F536-5CBA-A63B-ACFDCD91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56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C012C-C5D8-409C-029A-A305EB81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6AC35C-0849-F931-1422-BD3E11030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26C14-ABE1-8C17-CA05-20453CBA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78117-8BC7-EA2C-DB21-7EAA064A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CBA39-6C80-B352-F78A-D9F7AFF0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63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3B5DAB-12B5-045A-533C-E462AB0BF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54C622-4CD9-5D36-B9A4-BC8749DE0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E12281-7890-ACFD-C755-AC4137D6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6B3FD-158F-9895-94DA-98226838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5B018-B39D-181A-8D96-86462A6A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79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E32444-A445-598A-8FBD-73325012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7265B3-CC17-1976-2F69-09B33B375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E619B-B40D-E3D5-FF51-908F955C0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EF01A-5D70-F244-9D74-A0CB4E1E46A1}" type="datetimeFigureOut">
              <a:rPr kumimoji="1" lang="zh-CN" altLang="en-US" smtClean="0"/>
              <a:t>2025/8/11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D9087-76F8-BEDC-8B77-5D0334769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8653A-14C9-A3E6-B763-B6088DF5D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3BB45-1526-E54E-B227-24A703D83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24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4602D-098F-C44F-8C67-ED7AB3496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LLM Compiler Survey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38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9A5537-7EFF-6F35-3654-A5D136F1FC0E}"/>
              </a:ext>
            </a:extLst>
          </p:cNvPr>
          <p:cNvSpPr txBox="1"/>
          <p:nvPr/>
        </p:nvSpPr>
        <p:spPr>
          <a:xfrm>
            <a:off x="662152" y="145673"/>
            <a:ext cx="622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ML-based compiler techniques majorly for optimization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3D50EA-3528-FA11-928C-C0B0E353DBD7}"/>
              </a:ext>
            </a:extLst>
          </p:cNvPr>
          <p:cNvSpPr txBox="1"/>
          <p:nvPr/>
        </p:nvSpPr>
        <p:spPr>
          <a:xfrm>
            <a:off x="662152" y="3059668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LLM-based</a:t>
            </a:r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0AAE468-B5FC-C4AD-5B88-C40C33C3F969}"/>
              </a:ext>
            </a:extLst>
          </p:cNvPr>
          <p:cNvSpPr/>
          <p:nvPr/>
        </p:nvSpPr>
        <p:spPr>
          <a:xfrm>
            <a:off x="662152" y="3554083"/>
            <a:ext cx="6631014" cy="2360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8" name="图片 37" descr="图示&#10;&#10;AI 生成的内容可能不正确。">
            <a:extLst>
              <a:ext uri="{FF2B5EF4-FFF2-40B4-BE49-F238E27FC236}">
                <a16:creationId xmlns:a16="http://schemas.microsoft.com/office/drawing/2014/main" id="{21530522-0E82-EB73-41E3-6F366750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86" y="524432"/>
            <a:ext cx="6926660" cy="2229498"/>
          </a:xfrm>
          <a:prstGeom prst="rect">
            <a:avLst/>
          </a:prstGeom>
        </p:spPr>
      </p:pic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C5E3436C-40AC-A55E-FEBA-E03AC7C25D1F}"/>
              </a:ext>
            </a:extLst>
          </p:cNvPr>
          <p:cNvCxnSpPr/>
          <p:nvPr/>
        </p:nvCxnSpPr>
        <p:spPr>
          <a:xfrm>
            <a:off x="7674964" y="1371600"/>
            <a:ext cx="13266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FC8C840-3752-B9E9-CED4-9306BCAE24FF}"/>
              </a:ext>
            </a:extLst>
          </p:cNvPr>
          <p:cNvSpPr txBox="1"/>
          <p:nvPr/>
        </p:nvSpPr>
        <p:spPr>
          <a:xfrm>
            <a:off x="7067862" y="1993693"/>
            <a:ext cx="49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Various Model</a:t>
            </a:r>
            <a:r>
              <a:rPr kumimoji="1" lang="en-US" altLang="zh-CN" dirty="0">
                <a:sym typeface="Wingdings" pitchFamily="2" charset="2"/>
              </a:rPr>
              <a:t> LLM</a:t>
            </a:r>
          </a:p>
          <a:p>
            <a:r>
              <a:rPr kumimoji="1" lang="en-US" altLang="zh-CN" dirty="0">
                <a:sym typeface="Wingdings" pitchFamily="2" charset="2"/>
              </a:rPr>
              <a:t>Feature engineering  text/code/multimodal</a:t>
            </a:r>
          </a:p>
          <a:p>
            <a:r>
              <a:rPr kumimoji="1" lang="en-US" altLang="zh-CN" dirty="0"/>
              <a:t>Scope: pass/pass order </a:t>
            </a:r>
            <a:r>
              <a:rPr kumimoji="1" lang="en-US" altLang="zh-CN" dirty="0">
                <a:sym typeface="Wingdings" pitchFamily="2" charset="2"/>
              </a:rPr>
              <a:t> end2end generation/optimization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47139E-AFC4-0EF1-1990-285BD9DCEE84}"/>
              </a:ext>
            </a:extLst>
          </p:cNvPr>
          <p:cNvSpPr txBox="1"/>
          <p:nvPr/>
        </p:nvSpPr>
        <p:spPr>
          <a:xfrm>
            <a:off x="8064708" y="95937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Major Changes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4FAD3D5-373F-090A-6497-413BA662295A}"/>
              </a:ext>
            </a:extLst>
          </p:cNvPr>
          <p:cNvSpPr txBox="1"/>
          <p:nvPr/>
        </p:nvSpPr>
        <p:spPr>
          <a:xfrm>
            <a:off x="662152" y="3594968"/>
            <a:ext cx="315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Compiler optimization(legacy)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0563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C82646D-5F57-C989-86E1-A8A33724D321}"/>
              </a:ext>
            </a:extLst>
          </p:cNvPr>
          <p:cNvSpPr/>
          <p:nvPr/>
        </p:nvSpPr>
        <p:spPr>
          <a:xfrm>
            <a:off x="441815" y="625188"/>
            <a:ext cx="8558966" cy="1644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A239BE-817D-A356-DF62-7A95B499C664}"/>
              </a:ext>
            </a:extLst>
          </p:cNvPr>
          <p:cNvSpPr txBox="1"/>
          <p:nvPr/>
        </p:nvSpPr>
        <p:spPr>
          <a:xfrm>
            <a:off x="441815" y="667484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Transpilation</a:t>
            </a:r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D3CEB1-8191-C070-97BD-4489D2E63023}"/>
              </a:ext>
            </a:extLst>
          </p:cNvPr>
          <p:cNvSpPr/>
          <p:nvPr/>
        </p:nvSpPr>
        <p:spPr>
          <a:xfrm>
            <a:off x="5860973" y="1707614"/>
            <a:ext cx="3139808" cy="2543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EB9321-D1C8-4638-9D1B-F40A287515DD}"/>
              </a:ext>
            </a:extLst>
          </p:cNvPr>
          <p:cNvSpPr txBox="1"/>
          <p:nvPr/>
        </p:nvSpPr>
        <p:spPr>
          <a:xfrm>
            <a:off x="6983882" y="3881812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 optimization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7F7178-1987-0C24-84AF-ACA9481C9B65}"/>
              </a:ext>
            </a:extLst>
          </p:cNvPr>
          <p:cNvSpPr/>
          <p:nvPr/>
        </p:nvSpPr>
        <p:spPr>
          <a:xfrm>
            <a:off x="6545160" y="667484"/>
            <a:ext cx="2213250" cy="14147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9B38F2-72CA-3A99-D3B0-371B9729CAC1}"/>
              </a:ext>
            </a:extLst>
          </p:cNvPr>
          <p:cNvSpPr txBox="1"/>
          <p:nvPr/>
        </p:nvSpPr>
        <p:spPr>
          <a:xfrm>
            <a:off x="6545160" y="78291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Compilation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768F1A-FCFD-2EC1-AA90-04AA5769693A}"/>
              </a:ext>
            </a:extLst>
          </p:cNvPr>
          <p:cNvSpPr/>
          <p:nvPr/>
        </p:nvSpPr>
        <p:spPr>
          <a:xfrm>
            <a:off x="441815" y="2606856"/>
            <a:ext cx="3750674" cy="1644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9EA660-8D36-6F05-E13E-F483D055DEB3}"/>
              </a:ext>
            </a:extLst>
          </p:cNvPr>
          <p:cNvSpPr txBox="1"/>
          <p:nvPr/>
        </p:nvSpPr>
        <p:spPr>
          <a:xfrm>
            <a:off x="441815" y="388181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Bugfixes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3D69A1-0694-0FB7-F77E-D2F71A300CEA}"/>
              </a:ext>
            </a:extLst>
          </p:cNvPr>
          <p:cNvSpPr txBox="1"/>
          <p:nvPr/>
        </p:nvSpPr>
        <p:spPr>
          <a:xfrm>
            <a:off x="367436" y="77119"/>
            <a:ext cx="4463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LLMs in Broader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Compiler: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Tasks</a:t>
            </a:r>
            <a:endParaRPr kumimoji="1"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A14EB4-8250-4590-0FD2-B9DC06CC3A23}"/>
              </a:ext>
            </a:extLst>
          </p:cNvPr>
          <p:cNvSpPr/>
          <p:nvPr/>
        </p:nvSpPr>
        <p:spPr>
          <a:xfrm>
            <a:off x="441815" y="4588524"/>
            <a:ext cx="8558966" cy="1644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00D54F-24FD-3FF9-0DE0-2EB9E35C8C04}"/>
              </a:ext>
            </a:extLst>
          </p:cNvPr>
          <p:cNvSpPr txBox="1"/>
          <p:nvPr/>
        </p:nvSpPr>
        <p:spPr>
          <a:xfrm>
            <a:off x="441815" y="4588524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501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FDF8-D580-2946-3CAC-B66D8351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591FBCD-CC5A-7836-7D95-44B386071316}"/>
              </a:ext>
            </a:extLst>
          </p:cNvPr>
          <p:cNvSpPr txBox="1"/>
          <p:nvPr/>
        </p:nvSpPr>
        <p:spPr>
          <a:xfrm>
            <a:off x="367436" y="77119"/>
            <a:ext cx="5214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LLMs in Broader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Compiler: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code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levels</a:t>
            </a:r>
            <a:endParaRPr kumimoji="1" lang="zh-CN" altLang="en-US" sz="2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DC15136-0EC0-456D-3BED-D5F084F9A948}"/>
              </a:ext>
            </a:extLst>
          </p:cNvPr>
          <p:cNvGrpSpPr/>
          <p:nvPr/>
        </p:nvGrpSpPr>
        <p:grpSpPr>
          <a:xfrm>
            <a:off x="-137542" y="665937"/>
            <a:ext cx="12298625" cy="5685167"/>
            <a:chOff x="-137542" y="665937"/>
            <a:chExt cx="12298625" cy="5685167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81F2811-6546-F0C6-B815-B591BDA8B959}"/>
                </a:ext>
              </a:extLst>
            </p:cNvPr>
            <p:cNvSpPr/>
            <p:nvPr/>
          </p:nvSpPr>
          <p:spPr>
            <a:xfrm>
              <a:off x="3810746" y="665938"/>
              <a:ext cx="8303657" cy="56851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E902CC8-1C6A-9DD7-8B15-C3851AD7A0E6}"/>
                </a:ext>
              </a:extLst>
            </p:cNvPr>
            <p:cNvSpPr/>
            <p:nvPr/>
          </p:nvSpPr>
          <p:spPr>
            <a:xfrm>
              <a:off x="-137542" y="665937"/>
              <a:ext cx="7564731" cy="5367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0393C8A-2F03-BF47-64E5-1B0741EF9749}"/>
                </a:ext>
              </a:extLst>
            </p:cNvPr>
            <p:cNvSpPr/>
            <p:nvPr/>
          </p:nvSpPr>
          <p:spPr>
            <a:xfrm>
              <a:off x="0" y="1403318"/>
              <a:ext cx="2236424" cy="1200839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Natural Language</a:t>
              </a:r>
              <a:endPara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843AC5A-8784-A39A-835A-23B4C2A5A579}"/>
                </a:ext>
              </a:extLst>
            </p:cNvPr>
            <p:cNvSpPr/>
            <p:nvPr/>
          </p:nvSpPr>
          <p:spPr>
            <a:xfrm>
              <a:off x="4287126" y="1331963"/>
              <a:ext cx="2236424" cy="120083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Level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Programming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Language</a:t>
              </a:r>
              <a:endPara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7EBD3BA-5BA9-DAEB-B71B-8ED85B9C11B6}"/>
                </a:ext>
              </a:extLst>
            </p:cNvPr>
            <p:cNvSpPr/>
            <p:nvPr/>
          </p:nvSpPr>
          <p:spPr>
            <a:xfrm>
              <a:off x="8964421" y="1331963"/>
              <a:ext cx="2236424" cy="120083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Level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IR/Assembly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Language</a:t>
              </a:r>
              <a:endPara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右箭头 15">
              <a:extLst>
                <a:ext uri="{FF2B5EF4-FFF2-40B4-BE49-F238E27FC236}">
                  <a16:creationId xmlns:a16="http://schemas.microsoft.com/office/drawing/2014/main" id="{C9B37F20-A39B-5E7A-FE7E-04CEEAE1F5E4}"/>
                </a:ext>
              </a:extLst>
            </p:cNvPr>
            <p:cNvSpPr/>
            <p:nvPr/>
          </p:nvSpPr>
          <p:spPr>
            <a:xfrm>
              <a:off x="2435577" y="1432041"/>
              <a:ext cx="1280160" cy="3814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14795CC-E9B5-E6A4-ACE5-44CA6CCEEF2A}"/>
                </a:ext>
              </a:extLst>
            </p:cNvPr>
            <p:cNvSpPr txBox="1"/>
            <p:nvPr/>
          </p:nvSpPr>
          <p:spPr>
            <a:xfrm>
              <a:off x="1972191" y="994063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generation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右箭头 17">
              <a:extLst>
                <a:ext uri="{FF2B5EF4-FFF2-40B4-BE49-F238E27FC236}">
                  <a16:creationId xmlns:a16="http://schemas.microsoft.com/office/drawing/2014/main" id="{D2F2D2FF-53B4-F09A-155F-F53A6C542123}"/>
                </a:ext>
              </a:extLst>
            </p:cNvPr>
            <p:cNvSpPr/>
            <p:nvPr/>
          </p:nvSpPr>
          <p:spPr>
            <a:xfrm rot="10800000">
              <a:off x="2395962" y="2222727"/>
              <a:ext cx="1280160" cy="3814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5A6E9EE-75FA-715B-B85D-7685CF480AB4}"/>
                </a:ext>
              </a:extLst>
            </p:cNvPr>
            <p:cNvSpPr txBox="1"/>
            <p:nvPr/>
          </p:nvSpPr>
          <p:spPr>
            <a:xfrm>
              <a:off x="1497293" y="2672804"/>
              <a:ext cx="2140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comprehension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右箭头 19">
              <a:extLst>
                <a:ext uri="{FF2B5EF4-FFF2-40B4-BE49-F238E27FC236}">
                  <a16:creationId xmlns:a16="http://schemas.microsoft.com/office/drawing/2014/main" id="{A9330039-05F1-52F8-3CB4-DF93D6FA6900}"/>
                </a:ext>
              </a:extLst>
            </p:cNvPr>
            <p:cNvSpPr/>
            <p:nvPr/>
          </p:nvSpPr>
          <p:spPr>
            <a:xfrm>
              <a:off x="7504189" y="1398124"/>
              <a:ext cx="1280160" cy="3814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右箭头 20">
              <a:extLst>
                <a:ext uri="{FF2B5EF4-FFF2-40B4-BE49-F238E27FC236}">
                  <a16:creationId xmlns:a16="http://schemas.microsoft.com/office/drawing/2014/main" id="{F169FB9B-ED97-EB2B-A2D0-04F8924CDE20}"/>
                </a:ext>
              </a:extLst>
            </p:cNvPr>
            <p:cNvSpPr/>
            <p:nvPr/>
          </p:nvSpPr>
          <p:spPr>
            <a:xfrm rot="10800000">
              <a:off x="7504189" y="2195500"/>
              <a:ext cx="1280160" cy="3814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72EA616-AD89-B643-4107-43EF8FFB7610}"/>
                </a:ext>
              </a:extLst>
            </p:cNvPr>
            <p:cNvSpPr txBox="1"/>
            <p:nvPr/>
          </p:nvSpPr>
          <p:spPr>
            <a:xfrm>
              <a:off x="7639964" y="982178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Compile</a:t>
              </a:r>
              <a:endPara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5E49751-E619-682D-7062-2639F4A37E09}"/>
                </a:ext>
              </a:extLst>
            </p:cNvPr>
            <p:cNvSpPr txBox="1"/>
            <p:nvPr/>
          </p:nvSpPr>
          <p:spPr>
            <a:xfrm>
              <a:off x="7639964" y="2623544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Decompile</a:t>
              </a:r>
              <a:endPara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EEED2EDB-AA8C-8A92-326E-38A7EDFD5E52}"/>
                </a:ext>
              </a:extLst>
            </p:cNvPr>
            <p:cNvSpPr/>
            <p:nvPr/>
          </p:nvSpPr>
          <p:spPr>
            <a:xfrm>
              <a:off x="3838619" y="3229543"/>
              <a:ext cx="410488" cy="265931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E4AE626-87EC-1ACA-CE3E-B1FB66C236B7}"/>
                </a:ext>
              </a:extLst>
            </p:cNvPr>
            <p:cNvSpPr txBox="1"/>
            <p:nvPr/>
          </p:nvSpPr>
          <p:spPr>
            <a:xfrm>
              <a:off x="4249107" y="3229543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C/C++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87E81E6-E79B-2146-065C-A4823F883BC6}"/>
                </a:ext>
              </a:extLst>
            </p:cNvPr>
            <p:cNvSpPr txBox="1"/>
            <p:nvPr/>
          </p:nvSpPr>
          <p:spPr>
            <a:xfrm>
              <a:off x="4249107" y="3775191"/>
              <a:ext cx="1313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Java/Python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ABBD0AC-8508-2C35-A877-74B4782AB5A5}"/>
                </a:ext>
              </a:extLst>
            </p:cNvPr>
            <p:cNvSpPr txBox="1"/>
            <p:nvPr/>
          </p:nvSpPr>
          <p:spPr>
            <a:xfrm>
              <a:off x="4249107" y="4379998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CUDA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E8093B8-C380-883B-82C3-9FF4D6126F9F}"/>
                </a:ext>
              </a:extLst>
            </p:cNvPr>
            <p:cNvSpPr txBox="1"/>
            <p:nvPr/>
          </p:nvSpPr>
          <p:spPr>
            <a:xfrm>
              <a:off x="4258724" y="4984805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Triton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6F0E71-92BC-146B-7F13-9048911DFEBB}"/>
                </a:ext>
              </a:extLst>
            </p:cNvPr>
            <p:cNvSpPr txBox="1"/>
            <p:nvPr/>
          </p:nvSpPr>
          <p:spPr>
            <a:xfrm>
              <a:off x="4301010" y="551952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CuTe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左弧形箭头 32">
              <a:extLst>
                <a:ext uri="{FF2B5EF4-FFF2-40B4-BE49-F238E27FC236}">
                  <a16:creationId xmlns:a16="http://schemas.microsoft.com/office/drawing/2014/main" id="{9C6FA51D-6761-08B0-C22D-007560C25531}"/>
                </a:ext>
              </a:extLst>
            </p:cNvPr>
            <p:cNvSpPr/>
            <p:nvPr/>
          </p:nvSpPr>
          <p:spPr>
            <a:xfrm>
              <a:off x="5233816" y="3621702"/>
              <a:ext cx="573438" cy="1350301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330FCDE-A380-6F1D-7520-9E5BB502D5B2}"/>
                </a:ext>
              </a:extLst>
            </p:cNvPr>
            <p:cNvSpPr txBox="1"/>
            <p:nvPr/>
          </p:nvSpPr>
          <p:spPr>
            <a:xfrm>
              <a:off x="5540956" y="3382478"/>
              <a:ext cx="1514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Transpilation</a:t>
              </a:r>
              <a:endPara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4037325-2CF4-579A-86C9-0D74CDA95566}"/>
                </a:ext>
              </a:extLst>
            </p:cNvPr>
            <p:cNvSpPr txBox="1"/>
            <p:nvPr/>
          </p:nvSpPr>
          <p:spPr>
            <a:xfrm>
              <a:off x="5786451" y="3885542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AutoParallelize</a:t>
              </a:r>
              <a:endPara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2699486-3E7D-0FB8-1FD9-F477EE5458B7}"/>
                </a:ext>
              </a:extLst>
            </p:cNvPr>
            <p:cNvSpPr txBox="1"/>
            <p:nvPr/>
          </p:nvSpPr>
          <p:spPr>
            <a:xfrm>
              <a:off x="5405005" y="4953248"/>
              <a:ext cx="2070170" cy="381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Optimization</a:t>
              </a:r>
              <a:endPara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左大括号 39">
              <a:extLst>
                <a:ext uri="{FF2B5EF4-FFF2-40B4-BE49-F238E27FC236}">
                  <a16:creationId xmlns:a16="http://schemas.microsoft.com/office/drawing/2014/main" id="{A9CF007B-72DB-3382-76AA-22886CBEC48F}"/>
                </a:ext>
              </a:extLst>
            </p:cNvPr>
            <p:cNvSpPr/>
            <p:nvPr/>
          </p:nvSpPr>
          <p:spPr>
            <a:xfrm>
              <a:off x="8418499" y="3211871"/>
              <a:ext cx="410488" cy="265931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EDC42D5-F61F-F676-CBE6-A9F4A51D55CD}"/>
                </a:ext>
              </a:extLst>
            </p:cNvPr>
            <p:cNvSpPr txBox="1"/>
            <p:nvPr/>
          </p:nvSpPr>
          <p:spPr>
            <a:xfrm>
              <a:off x="8809350" y="3115918"/>
              <a:ext cx="1106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LLVM IR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F8F1CA0-298F-4331-D5E1-2762DE91B6D4}"/>
                </a:ext>
              </a:extLst>
            </p:cNvPr>
            <p:cNvSpPr txBox="1"/>
            <p:nvPr/>
          </p:nvSpPr>
          <p:spPr>
            <a:xfrm>
              <a:off x="8809350" y="365153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x86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88C6281-5CE0-7E14-8E21-766B831DA2CA}"/>
                </a:ext>
              </a:extLst>
            </p:cNvPr>
            <p:cNvSpPr txBox="1"/>
            <p:nvPr/>
          </p:nvSpPr>
          <p:spPr>
            <a:xfrm>
              <a:off x="8828987" y="4978317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ptx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592C534-CBE0-2B5A-4A45-4C9CCEA4C13A}"/>
                </a:ext>
              </a:extLst>
            </p:cNvPr>
            <p:cNvSpPr txBox="1"/>
            <p:nvPr/>
          </p:nvSpPr>
          <p:spPr>
            <a:xfrm>
              <a:off x="8783292" y="4362326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arm/</a:t>
              </a:r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riscv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左弧形箭头 46">
              <a:extLst>
                <a:ext uri="{FF2B5EF4-FFF2-40B4-BE49-F238E27FC236}">
                  <a16:creationId xmlns:a16="http://schemas.microsoft.com/office/drawing/2014/main" id="{3451B993-EA95-B518-8049-0A8169B0F6CB}"/>
                </a:ext>
              </a:extLst>
            </p:cNvPr>
            <p:cNvSpPr/>
            <p:nvPr/>
          </p:nvSpPr>
          <p:spPr>
            <a:xfrm>
              <a:off x="9638943" y="3866375"/>
              <a:ext cx="573438" cy="1350301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48A3CB4-8673-0923-6AA8-64680E62E7DC}"/>
                </a:ext>
              </a:extLst>
            </p:cNvPr>
            <p:cNvSpPr txBox="1"/>
            <p:nvPr/>
          </p:nvSpPr>
          <p:spPr>
            <a:xfrm>
              <a:off x="10142765" y="3747967"/>
              <a:ext cx="19100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Binary Translation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6EF7C62-C8AA-BCC7-7CB7-E88795C2B424}"/>
                </a:ext>
              </a:extLst>
            </p:cNvPr>
            <p:cNvSpPr txBox="1"/>
            <p:nvPr/>
          </p:nvSpPr>
          <p:spPr>
            <a:xfrm>
              <a:off x="10169055" y="4736878"/>
              <a:ext cx="1721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 Optimization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55B284B-8EA6-EC00-3072-EA12BB936845}"/>
                </a:ext>
              </a:extLst>
            </p:cNvPr>
            <p:cNvSpPr txBox="1"/>
            <p:nvPr/>
          </p:nvSpPr>
          <p:spPr>
            <a:xfrm>
              <a:off x="10169055" y="5150189"/>
              <a:ext cx="1858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Compiler Fuzzing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9676D1C-C55B-EEFF-6970-72E0805A2CC7}"/>
                </a:ext>
              </a:extLst>
            </p:cNvPr>
            <p:cNvSpPr txBox="1"/>
            <p:nvPr/>
          </p:nvSpPr>
          <p:spPr>
            <a:xfrm>
              <a:off x="8828987" y="5459860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HDL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22BFDFE-28FD-CFD8-87A1-C94C4AD50F7E}"/>
                </a:ext>
              </a:extLst>
            </p:cNvPr>
            <p:cNvSpPr txBox="1"/>
            <p:nvPr/>
          </p:nvSpPr>
          <p:spPr>
            <a:xfrm>
              <a:off x="10163420" y="4259082"/>
              <a:ext cx="1997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ASM Optimization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0A438F5-12BC-D61E-7F2F-20056BC0B7FB}"/>
                </a:ext>
              </a:extLst>
            </p:cNvPr>
            <p:cNvSpPr txBox="1"/>
            <p:nvPr/>
          </p:nvSpPr>
          <p:spPr>
            <a:xfrm>
              <a:off x="9440052" y="753384"/>
              <a:ext cx="2589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Scope of LLM Compiler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02AD3D8-C17E-E182-6E6A-3F85B0370105}"/>
                </a:ext>
              </a:extLst>
            </p:cNvPr>
            <p:cNvSpPr txBox="1"/>
            <p:nvPr/>
          </p:nvSpPr>
          <p:spPr>
            <a:xfrm>
              <a:off x="-112505" y="5638080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Scope of LLM4SE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F2829C0-AE6F-1125-946E-0494490088AF}"/>
                </a:ext>
              </a:extLst>
            </p:cNvPr>
            <p:cNvSpPr/>
            <p:nvPr/>
          </p:nvSpPr>
          <p:spPr>
            <a:xfrm>
              <a:off x="3810745" y="665938"/>
              <a:ext cx="8303657" cy="56851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51F219-5C27-697B-41F3-10D188919645}"/>
                </a:ext>
              </a:extLst>
            </p:cNvPr>
            <p:cNvSpPr txBox="1"/>
            <p:nvPr/>
          </p:nvSpPr>
          <p:spPr>
            <a:xfrm>
              <a:off x="5807254" y="4420108"/>
              <a:ext cx="1295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AutoRepair</a:t>
              </a:r>
              <a:endPara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738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799B57-F2AC-666E-4C66-9832DF8F5E0E}"/>
              </a:ext>
            </a:extLst>
          </p:cNvPr>
          <p:cNvSpPr txBox="1"/>
          <p:nvPr/>
        </p:nvSpPr>
        <p:spPr>
          <a:xfrm>
            <a:off x="232682" y="125245"/>
            <a:ext cx="6168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LLMs in Broader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Compiler: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design philosophy</a:t>
            </a:r>
            <a:endParaRPr kumimoji="1"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852350-278F-ECA7-1A60-97B48F585F27}"/>
              </a:ext>
            </a:extLst>
          </p:cNvPr>
          <p:cNvSpPr/>
          <p:nvPr/>
        </p:nvSpPr>
        <p:spPr>
          <a:xfrm>
            <a:off x="896489" y="2579810"/>
            <a:ext cx="2628572" cy="789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LLM as compiler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D4EBD4-5BE7-C198-0921-2D0E6846A2F3}"/>
              </a:ext>
            </a:extLst>
          </p:cNvPr>
          <p:cNvSpPr/>
          <p:nvPr/>
        </p:nvSpPr>
        <p:spPr>
          <a:xfrm>
            <a:off x="896489" y="3799009"/>
            <a:ext cx="2628572" cy="789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LLM generates compiler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E67BE-A8CB-D34B-F84F-0BD6E67B919E}"/>
              </a:ext>
            </a:extLst>
          </p:cNvPr>
          <p:cNvSpPr/>
          <p:nvPr/>
        </p:nvSpPr>
        <p:spPr>
          <a:xfrm>
            <a:off x="896489" y="1335733"/>
            <a:ext cx="2628572" cy="789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LLM as selector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6CEAFE-EBB2-BE5B-94DD-C48CE606AAC1}"/>
              </a:ext>
            </a:extLst>
          </p:cNvPr>
          <p:cNvSpPr txBox="1"/>
          <p:nvPr/>
        </p:nvSpPr>
        <p:spPr>
          <a:xfrm>
            <a:off x="4110754" y="1335733"/>
            <a:ext cx="4703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作为预制选项</a:t>
            </a:r>
            <a:r>
              <a:rPr kumimoji="1" lang="en-US" altLang="zh-CN" dirty="0"/>
              <a:t>/</a:t>
            </a:r>
            <a:r>
              <a:rPr kumimoji="1" lang="zh-CN" altLang="en-US" dirty="0"/>
              <a:t>操作的超优化器</a:t>
            </a:r>
            <a:r>
              <a:rPr kumimoji="1" lang="en-US" altLang="zh-CN" dirty="0"/>
              <a:t>/</a:t>
            </a:r>
            <a:r>
              <a:rPr kumimoji="1" lang="zh-CN" altLang="en-US" dirty="0"/>
              <a:t>调度器</a:t>
            </a:r>
            <a:endParaRPr kumimoji="1" lang="en-US" altLang="zh-CN" dirty="0"/>
          </a:p>
          <a:p>
            <a:r>
              <a:rPr kumimoji="1" lang="zh-CN" altLang="en-US" dirty="0"/>
              <a:t>在预定义空间中进行选择</a:t>
            </a:r>
            <a:r>
              <a:rPr kumimoji="1" lang="en-US" altLang="zh-CN" dirty="0"/>
              <a:t>/</a:t>
            </a:r>
            <a:r>
              <a:rPr kumimoji="1" lang="zh-CN" altLang="en-US" dirty="0"/>
              <a:t>调优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83C42F-D769-70DA-3BBA-A8AC88A998FB}"/>
              </a:ext>
            </a:extLst>
          </p:cNvPr>
          <p:cNvSpPr txBox="1"/>
          <p:nvPr/>
        </p:nvSpPr>
        <p:spPr>
          <a:xfrm>
            <a:off x="4110754" y="2561123"/>
            <a:ext cx="4386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直接作为翻译器</a:t>
            </a:r>
            <a:endParaRPr kumimoji="1" lang="en-US" altLang="zh-CN" dirty="0"/>
          </a:p>
          <a:p>
            <a:r>
              <a:rPr kumimoji="1" lang="zh-CN" altLang="en-US" dirty="0"/>
              <a:t>对给定范围的代码进行变换</a:t>
            </a:r>
            <a:endParaRPr kumimoji="1"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402ED2-1F9E-D97E-B86E-115B9B3C55EF}"/>
              </a:ext>
            </a:extLst>
          </p:cNvPr>
          <p:cNvSpPr txBox="1"/>
          <p:nvPr/>
        </p:nvSpPr>
        <p:spPr>
          <a:xfrm>
            <a:off x="4110754" y="3786513"/>
            <a:ext cx="4386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生成翻译器代码</a:t>
            </a:r>
            <a:endParaRPr kumimoji="1" lang="en-US" altLang="zh-CN" dirty="0"/>
          </a:p>
          <a:p>
            <a:r>
              <a:rPr kumimoji="1" lang="zh-CN" altLang="en-US" dirty="0"/>
              <a:t>翻译器代码通过编译完成代码变换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568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13AD0D-1102-CE25-B974-3998FC2A085A}"/>
              </a:ext>
            </a:extLst>
          </p:cNvPr>
          <p:cNvSpPr txBox="1"/>
          <p:nvPr/>
        </p:nvSpPr>
        <p:spPr>
          <a:xfrm>
            <a:off x="232682" y="125245"/>
            <a:ext cx="7058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LLMs in Broader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Compiler: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Scope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 Advancement</a:t>
            </a:r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359FBE-22BF-009C-B469-936FC30D27E7}"/>
              </a:ext>
            </a:extLst>
          </p:cNvPr>
          <p:cNvSpPr txBox="1"/>
          <p:nvPr/>
        </p:nvSpPr>
        <p:spPr>
          <a:xfrm>
            <a:off x="1855004" y="884904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Inner Compiler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0A1364-A776-9CBC-E8D2-655F7EF04E7C}"/>
              </a:ext>
            </a:extLst>
          </p:cNvPr>
          <p:cNvSpPr txBox="1"/>
          <p:nvPr/>
        </p:nvSpPr>
        <p:spPr>
          <a:xfrm>
            <a:off x="1855004" y="1793291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Outer Compiler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59D75D-38FB-1F22-A369-5CFC5F81EB0D}"/>
              </a:ext>
            </a:extLst>
          </p:cNvPr>
          <p:cNvSpPr txBox="1"/>
          <p:nvPr/>
        </p:nvSpPr>
        <p:spPr>
          <a:xfrm>
            <a:off x="3766624" y="707923"/>
            <a:ext cx="7815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编译的选项调优过程：与传统</a:t>
            </a:r>
            <a:r>
              <a:rPr kumimoji="1" lang="en-US" altLang="zh-CN" dirty="0"/>
              <a:t>ML-based</a:t>
            </a:r>
            <a:r>
              <a:rPr kumimoji="1" lang="zh-CN" altLang="en-US" dirty="0"/>
              <a:t> 优化相似</a:t>
            </a:r>
            <a:endParaRPr kumimoji="1" lang="en-US" altLang="zh-CN" dirty="0"/>
          </a:p>
          <a:p>
            <a:r>
              <a:rPr kumimoji="1" lang="zh-CN" altLang="en-US" dirty="0"/>
              <a:t>编译的翻译过程：内存布局分析</a:t>
            </a:r>
            <a:r>
              <a:rPr kumimoji="1" lang="en-US" altLang="zh-CN" dirty="0"/>
              <a:t>/</a:t>
            </a:r>
            <a:r>
              <a:rPr kumimoji="1" lang="zh-CN" altLang="en-US" dirty="0"/>
              <a:t>作用域分析（前端） 代码生成</a:t>
            </a:r>
            <a:r>
              <a:rPr kumimoji="1" lang="en-US" altLang="zh-CN" dirty="0"/>
              <a:t>/</a:t>
            </a:r>
            <a:r>
              <a:rPr kumimoji="1" lang="zh-CN" altLang="en-US" dirty="0"/>
              <a:t>映射（后端）</a:t>
            </a:r>
            <a:endParaRPr kumimoji="1" lang="en-US" altLang="zh-CN" dirty="0"/>
          </a:p>
          <a:p>
            <a:r>
              <a:rPr kumimoji="1" lang="zh-CN" altLang="en-US" dirty="0"/>
              <a:t>编译的优化过程：寄存器分配（局部）</a:t>
            </a:r>
            <a:r>
              <a:rPr kumimoji="1" lang="en-US" altLang="zh-CN" dirty="0"/>
              <a:t>/Code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（全局）</a:t>
            </a:r>
            <a:endParaRPr kumimoji="1"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7AF892-9F2B-F730-0BDD-BFA6B85DA2C3}"/>
              </a:ext>
            </a:extLst>
          </p:cNvPr>
          <p:cNvSpPr txBox="1"/>
          <p:nvPr/>
        </p:nvSpPr>
        <p:spPr>
          <a:xfrm>
            <a:off x="3766624" y="1712937"/>
            <a:ext cx="61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源代码优化的能力</a:t>
            </a:r>
            <a:endParaRPr kumimoji="1" lang="en-US" altLang="zh-CN" dirty="0"/>
          </a:p>
          <a:p>
            <a:r>
              <a:rPr kumimoji="1" lang="zh-CN" altLang="en-US" dirty="0"/>
              <a:t>自动代码迁移的能力</a:t>
            </a:r>
            <a:endParaRPr kumimoji="1" lang="en-US" altLang="zh-CN" dirty="0"/>
          </a:p>
          <a:p>
            <a:r>
              <a:rPr kumimoji="1" lang="zh-CN" altLang="en-US" dirty="0"/>
              <a:t>自动测试生成的能力</a:t>
            </a:r>
            <a:endParaRPr kumimoji="1" lang="en-US" altLang="zh-CN" dirty="0"/>
          </a:p>
          <a:p>
            <a:r>
              <a:rPr kumimoji="1" lang="zh-CN" altLang="en-US" dirty="0"/>
              <a:t>连通</a:t>
            </a:r>
            <a:r>
              <a:rPr kumimoji="1" lang="en-US" altLang="zh-CN" dirty="0"/>
              <a:t>/</a:t>
            </a:r>
            <a:r>
              <a:rPr kumimoji="1" lang="zh-CN" altLang="en-US" dirty="0"/>
              <a:t>调用流程的能力（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0115F8-62A8-33DB-0E28-5E877FC8BCA4}"/>
              </a:ext>
            </a:extLst>
          </p:cNvPr>
          <p:cNvSpPr txBox="1"/>
          <p:nvPr/>
        </p:nvSpPr>
        <p:spPr>
          <a:xfrm>
            <a:off x="304801" y="1343605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Scope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49AA78-3FAB-D96B-974E-73EED46B0579}"/>
              </a:ext>
            </a:extLst>
          </p:cNvPr>
          <p:cNvSpPr txBox="1"/>
          <p:nvPr/>
        </p:nvSpPr>
        <p:spPr>
          <a:xfrm>
            <a:off x="232682" y="4396521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Advancement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08B03-83FD-2D41-51EA-70E3D91DB6A9}"/>
              </a:ext>
            </a:extLst>
          </p:cNvPr>
          <p:cNvSpPr txBox="1"/>
          <p:nvPr/>
        </p:nvSpPr>
        <p:spPr>
          <a:xfrm>
            <a:off x="1855004" y="3684707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Know/Extend LLM’s cans and cants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0CD5A2-FDB4-9901-93E0-01E06091C8C3}"/>
              </a:ext>
            </a:extLst>
          </p:cNvPr>
          <p:cNvSpPr txBox="1"/>
          <p:nvPr/>
        </p:nvSpPr>
        <p:spPr>
          <a:xfrm>
            <a:off x="1855005" y="418606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Better optimization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842751-B305-E19B-F4B5-3651332FD394}"/>
              </a:ext>
            </a:extLst>
          </p:cNvPr>
          <p:cNvSpPr txBox="1"/>
          <p:nvPr/>
        </p:nvSpPr>
        <p:spPr>
          <a:xfrm>
            <a:off x="1855004" y="4686164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Broader utility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C57350-6C30-776D-8524-51A326D1D606}"/>
              </a:ext>
            </a:extLst>
          </p:cNvPr>
          <p:cNvSpPr txBox="1"/>
          <p:nvPr/>
        </p:nvSpPr>
        <p:spPr>
          <a:xfrm>
            <a:off x="1855004" y="5168824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Faster implementation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85995F-DD77-8ED5-E925-17D52267B6C0}"/>
              </a:ext>
            </a:extLst>
          </p:cNvPr>
          <p:cNvSpPr txBox="1"/>
          <p:nvPr/>
        </p:nvSpPr>
        <p:spPr>
          <a:xfrm>
            <a:off x="1855004" y="5670182"/>
            <a:ext cx="394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LLM-specific: scalability and reliability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450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A0116E09-9425-15FD-B188-C7836FE4C434}"/>
              </a:ext>
            </a:extLst>
          </p:cNvPr>
          <p:cNvGrpSpPr/>
          <p:nvPr/>
        </p:nvGrpSpPr>
        <p:grpSpPr>
          <a:xfrm>
            <a:off x="1894787" y="518473"/>
            <a:ext cx="8121134" cy="4307185"/>
            <a:chOff x="1894787" y="518473"/>
            <a:chExt cx="8121134" cy="430718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6A43FAA-2B7B-C843-292E-96A835F1762F}"/>
                </a:ext>
              </a:extLst>
            </p:cNvPr>
            <p:cNvSpPr txBox="1"/>
            <p:nvPr/>
          </p:nvSpPr>
          <p:spPr>
            <a:xfrm>
              <a:off x="1894787" y="518473"/>
              <a:ext cx="81211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 libraries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(Google Scholar, ACM Digital Library, IEEE Xplore, and </a:t>
              </a:r>
              <a:r>
                <a:rPr kumimoji="1"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Arxiv.org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883771C-DF2F-4AFF-5AC8-1ACE6E0A528F}"/>
                </a:ext>
              </a:extLst>
            </p:cNvPr>
            <p:cNvSpPr txBox="1"/>
            <p:nvPr/>
          </p:nvSpPr>
          <p:spPr>
            <a:xfrm>
              <a:off x="4242061" y="1472151"/>
              <a:ext cx="56717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1: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with selected search keywords and filtering with inclusion and exclusion criteria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5D0B7B9-AE40-4C47-3126-EB0CB5887F84}"/>
                </a:ext>
              </a:extLst>
            </p:cNvPr>
            <p:cNvSpPr txBox="1"/>
            <p:nvPr/>
          </p:nvSpPr>
          <p:spPr>
            <a:xfrm>
              <a:off x="4242061" y="2677689"/>
              <a:ext cx="56717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2: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Category assignment, duplicate removal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BDF17CE-D7A4-AB2F-D3A3-1812684D812B}"/>
                </a:ext>
              </a:extLst>
            </p:cNvPr>
            <p:cNvSpPr txBox="1"/>
            <p:nvPr/>
          </p:nvSpPr>
          <p:spPr>
            <a:xfrm>
              <a:off x="4240050" y="3835813"/>
              <a:ext cx="56717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3: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Filtering with scope exclusion criteria and make detailed summaries</a:t>
              </a:r>
            </a:p>
          </p:txBody>
        </p:sp>
        <p:pic>
          <p:nvPicPr>
            <p:cNvPr id="9" name="图形 8" descr="筛选 轮廓">
              <a:extLst>
                <a:ext uri="{FF2B5EF4-FFF2-40B4-BE49-F238E27FC236}">
                  <a16:creationId xmlns:a16="http://schemas.microsoft.com/office/drawing/2014/main" id="{D9309CF8-22CF-D477-2145-3CAFA8F75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55482" y="1205541"/>
              <a:ext cx="1179549" cy="117954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67AB45E-D582-1590-8737-6709FBBDA7B1}"/>
                </a:ext>
              </a:extLst>
            </p:cNvPr>
            <p:cNvSpPr txBox="1"/>
            <p:nvPr/>
          </p:nvSpPr>
          <p:spPr>
            <a:xfrm>
              <a:off x="3390563" y="137883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右箭头 12">
              <a:extLst>
                <a:ext uri="{FF2B5EF4-FFF2-40B4-BE49-F238E27FC236}">
                  <a16:creationId xmlns:a16="http://schemas.microsoft.com/office/drawing/2014/main" id="{79FD2464-5853-C9A6-A38E-C4DDD7F0698C}"/>
                </a:ext>
              </a:extLst>
            </p:cNvPr>
            <p:cNvSpPr/>
            <p:nvPr/>
          </p:nvSpPr>
          <p:spPr>
            <a:xfrm rot="5400000">
              <a:off x="3359143" y="867750"/>
              <a:ext cx="369333" cy="409444"/>
            </a:xfrm>
            <a:prstGeom prst="rightArrow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81BB7AB-8A75-B5A6-5CBF-77ED7DC115EE}"/>
                </a:ext>
              </a:extLst>
            </p:cNvPr>
            <p:cNvSpPr txBox="1"/>
            <p:nvPr/>
          </p:nvSpPr>
          <p:spPr>
            <a:xfrm>
              <a:off x="3282648" y="2200424"/>
              <a:ext cx="522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311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8EB10C1-9DE5-8A83-0AF4-79C967C87F62}"/>
                </a:ext>
              </a:extLst>
            </p:cNvPr>
            <p:cNvGrpSpPr/>
            <p:nvPr/>
          </p:nvGrpSpPr>
          <p:grpSpPr>
            <a:xfrm>
              <a:off x="2955482" y="2385090"/>
              <a:ext cx="1179549" cy="1179549"/>
              <a:chOff x="2882653" y="1218536"/>
              <a:chExt cx="1179549" cy="1179549"/>
            </a:xfrm>
          </p:grpSpPr>
          <p:pic>
            <p:nvPicPr>
              <p:cNvPr id="16" name="图形 15" descr="筛选 轮廓">
                <a:extLst>
                  <a:ext uri="{FF2B5EF4-FFF2-40B4-BE49-F238E27FC236}">
                    <a16:creationId xmlns:a16="http://schemas.microsoft.com/office/drawing/2014/main" id="{92E851DE-F0EF-6931-15C3-1B865A1919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82653" y="1218536"/>
                <a:ext cx="1179549" cy="1179549"/>
              </a:xfrm>
              <a:prstGeom prst="rect">
                <a:avLst/>
              </a:prstGeom>
            </p:spPr>
          </p:pic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5A6FE85-CFFA-CF9D-A9ED-A93FE88ACFC5}"/>
                  </a:ext>
                </a:extLst>
              </p:cNvPr>
              <p:cNvSpPr txBox="1"/>
              <p:nvPr/>
            </p:nvSpPr>
            <p:spPr>
              <a:xfrm>
                <a:off x="3317734" y="139183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1"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0CE0DAD-A806-9BB8-C81E-938670967288}"/>
                </a:ext>
              </a:extLst>
            </p:cNvPr>
            <p:cNvSpPr txBox="1"/>
            <p:nvPr/>
          </p:nvSpPr>
          <p:spPr>
            <a:xfrm>
              <a:off x="3274054" y="4456326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159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ADCE4F1-A301-E173-F6FE-186E46A78AF7}"/>
                </a:ext>
              </a:extLst>
            </p:cNvPr>
            <p:cNvGrpSpPr/>
            <p:nvPr/>
          </p:nvGrpSpPr>
          <p:grpSpPr>
            <a:xfrm>
              <a:off x="2955482" y="3513041"/>
              <a:ext cx="1179549" cy="1179549"/>
              <a:chOff x="2882653" y="1218536"/>
              <a:chExt cx="1179549" cy="1179549"/>
            </a:xfrm>
          </p:grpSpPr>
          <p:pic>
            <p:nvPicPr>
              <p:cNvPr id="20" name="图形 19" descr="筛选 轮廓">
                <a:extLst>
                  <a:ext uri="{FF2B5EF4-FFF2-40B4-BE49-F238E27FC236}">
                    <a16:creationId xmlns:a16="http://schemas.microsoft.com/office/drawing/2014/main" id="{85E19234-89FD-6E89-0540-30A0C9D7E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82653" y="1218536"/>
                <a:ext cx="1179549" cy="1179549"/>
              </a:xfrm>
              <a:prstGeom prst="rect">
                <a:avLst/>
              </a:prstGeom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3709BC7-32C1-ABC9-9369-C5B5CC067F58}"/>
                  </a:ext>
                </a:extLst>
              </p:cNvPr>
              <p:cNvSpPr txBox="1"/>
              <p:nvPr/>
            </p:nvSpPr>
            <p:spPr>
              <a:xfrm>
                <a:off x="3317734" y="139183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1"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CC1B24A-CBCC-9A68-C906-E81584598861}"/>
                </a:ext>
              </a:extLst>
            </p:cNvPr>
            <p:cNvSpPr txBox="1"/>
            <p:nvPr/>
          </p:nvSpPr>
          <p:spPr>
            <a:xfrm>
              <a:off x="3274055" y="332837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246</a:t>
              </a:r>
              <a:endPara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89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64930-BF8E-61F9-DD22-0690F292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97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9174</TotalTime>
  <Words>340</Words>
  <Application>Microsoft Macintosh PowerPoint</Application>
  <PresentationFormat>宽屏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Wingdings</vt:lpstr>
      <vt:lpstr>Office 主题​​</vt:lpstr>
      <vt:lpstr>LLM Compiler Survey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shuoming zhang</dc:creator>
  <cp:lastModifiedBy>shuoming zhang</cp:lastModifiedBy>
  <cp:revision>93</cp:revision>
  <dcterms:created xsi:type="dcterms:W3CDTF">2025-07-14T07:55:38Z</dcterms:created>
  <dcterms:modified xsi:type="dcterms:W3CDTF">2025-08-11T05:31:10Z</dcterms:modified>
</cp:coreProperties>
</file>